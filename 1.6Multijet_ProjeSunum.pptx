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76" r:id="rId3"/>
    <p:sldId id="277" r:id="rId4"/>
    <p:sldId id="279" r:id="rId5"/>
    <p:sldId id="257" r:id="rId6"/>
    <p:sldId id="258" r:id="rId7"/>
    <p:sldId id="271" r:id="rId8"/>
    <p:sldId id="278" r:id="rId9"/>
    <p:sldId id="280" r:id="rId10"/>
    <p:sldId id="273" r:id="rId11"/>
    <p:sldId id="274" r:id="rId12"/>
  </p:sldIdLst>
  <p:sldSz cx="12192000" cy="6858000"/>
  <p:notesSz cx="6858000" cy="9144000"/>
  <p:embeddedFontLst>
    <p:embeddedFont>
      <p:font typeface="Urbanist" panose="020B0604020202020204" charset="-94"/>
      <p:regular r:id="rId14"/>
      <p:bold r:id="rId15"/>
      <p:italic r:id="rId16"/>
      <p:boldItalic r:id="rId17"/>
    </p:embeddedFont>
    <p:embeddedFont>
      <p:font typeface="Urbanist Medium" panose="020B0604020202020204" charset="-94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BF41AB-3309-4D0D-9267-94F0D7E5D826}" v="6" dt="2026-01-08T01:26:32.257"/>
    <p1510:client id="{DE77EDEA-303D-4684-B14B-6A19431B330B}" v="3" dt="2026-01-08T02:44:27.294"/>
  </p1510:revLst>
</p1510:revInfo>
</file>

<file path=ppt/tableStyles.xml><?xml version="1.0" encoding="utf-8"?>
<a:tblStyleLst xmlns:a="http://schemas.openxmlformats.org/drawingml/2006/main" def="{EC631387-8047-444B-9E71-519843350850}">
  <a:tblStyle styleId="{EC631387-8047-444B-9E71-51984335085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0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ömer utku aktemur" userId="b6b4966b1df3bb95" providerId="LiveId" clId="{0BB2F460-52DC-4159-B4DB-CCA1C0EE4F14}"/>
    <pc:docChg chg="undo custSel addSld delSld modSld sldOrd">
      <pc:chgData name="ömer utku aktemur" userId="b6b4966b1df3bb95" providerId="LiveId" clId="{0BB2F460-52DC-4159-B4DB-CCA1C0EE4F14}" dt="2026-01-08T04:30:39.400" v="107" actId="1076"/>
      <pc:docMkLst>
        <pc:docMk/>
      </pc:docMkLst>
      <pc:sldChg chg="modSp mod">
        <pc:chgData name="ömer utku aktemur" userId="b6b4966b1df3bb95" providerId="LiveId" clId="{0BB2F460-52DC-4159-B4DB-CCA1C0EE4F14}" dt="2026-01-08T04:30:39.400" v="107" actId="1076"/>
        <pc:sldMkLst>
          <pc:docMk/>
          <pc:sldMk cId="0" sldId="256"/>
        </pc:sldMkLst>
        <pc:spChg chg="mod">
          <ac:chgData name="ömer utku aktemur" userId="b6b4966b1df3bb95" providerId="LiveId" clId="{0BB2F460-52DC-4159-B4DB-CCA1C0EE4F14}" dt="2026-01-08T04:30:39.400" v="107" actId="1076"/>
          <ac:spMkLst>
            <pc:docMk/>
            <pc:sldMk cId="0" sldId="256"/>
            <ac:spMk id="89" creationId="{00000000-0000-0000-0000-000000000000}"/>
          </ac:spMkLst>
        </pc:spChg>
      </pc:sldChg>
      <pc:sldChg chg="delSp modSp mod">
        <pc:chgData name="ömer utku aktemur" userId="b6b4966b1df3bb95" providerId="LiveId" clId="{0BB2F460-52DC-4159-B4DB-CCA1C0EE4F14}" dt="2026-01-08T03:52:38.976" v="106"/>
        <pc:sldMkLst>
          <pc:docMk/>
          <pc:sldMk cId="0" sldId="257"/>
        </pc:sldMkLst>
        <pc:spChg chg="del mod">
          <ac:chgData name="ömer utku aktemur" userId="b6b4966b1df3bb95" providerId="LiveId" clId="{0BB2F460-52DC-4159-B4DB-CCA1C0EE4F14}" dt="2026-01-08T03:49:53.682" v="32" actId="478"/>
          <ac:spMkLst>
            <pc:docMk/>
            <pc:sldMk cId="0" sldId="257"/>
            <ac:spMk id="103" creationId="{00000000-0000-0000-0000-000000000000}"/>
          </ac:spMkLst>
        </pc:spChg>
        <pc:spChg chg="del mod">
          <ac:chgData name="ömer utku aktemur" userId="b6b4966b1df3bb95" providerId="LiveId" clId="{0BB2F460-52DC-4159-B4DB-CCA1C0EE4F14}" dt="2026-01-08T03:50:03.294" v="93" actId="478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ömer utku aktemur" userId="b6b4966b1df3bb95" providerId="LiveId" clId="{0BB2F460-52DC-4159-B4DB-CCA1C0EE4F14}" dt="2026-01-08T03:50:31.019" v="97" actId="1076"/>
          <ac:spMkLst>
            <pc:docMk/>
            <pc:sldMk cId="0" sldId="257"/>
            <ac:spMk id="105" creationId="{00000000-0000-0000-0000-000000000000}"/>
          </ac:spMkLst>
        </pc:spChg>
        <pc:spChg chg="mod">
          <ac:chgData name="ömer utku aktemur" userId="b6b4966b1df3bb95" providerId="LiveId" clId="{0BB2F460-52DC-4159-B4DB-CCA1C0EE4F14}" dt="2026-01-08T03:50:23.748" v="96" actId="1076"/>
          <ac:spMkLst>
            <pc:docMk/>
            <pc:sldMk cId="0" sldId="257"/>
            <ac:spMk id="106" creationId="{00000000-0000-0000-0000-000000000000}"/>
          </ac:spMkLst>
        </pc:spChg>
        <pc:spChg chg="mod">
          <ac:chgData name="ömer utku aktemur" userId="b6b4966b1df3bb95" providerId="LiveId" clId="{0BB2F460-52DC-4159-B4DB-CCA1C0EE4F14}" dt="2026-01-08T03:50:37.283" v="98" actId="1076"/>
          <ac:spMkLst>
            <pc:docMk/>
            <pc:sldMk cId="0" sldId="257"/>
            <ac:spMk id="107" creationId="{00000000-0000-0000-0000-000000000000}"/>
          </ac:spMkLst>
        </pc:spChg>
        <pc:spChg chg="del mod">
          <ac:chgData name="ömer utku aktemur" userId="b6b4966b1df3bb95" providerId="LiveId" clId="{0BB2F460-52DC-4159-B4DB-CCA1C0EE4F14}" dt="2026-01-08T03:52:38.976" v="106"/>
          <ac:spMkLst>
            <pc:docMk/>
            <pc:sldMk cId="0" sldId="257"/>
            <ac:spMk id="111" creationId="{00000000-0000-0000-0000-000000000000}"/>
          </ac:spMkLst>
        </pc:spChg>
        <pc:spChg chg="del mod">
          <ac:chgData name="ömer utku aktemur" userId="b6b4966b1df3bb95" providerId="LiveId" clId="{0BB2F460-52DC-4159-B4DB-CCA1C0EE4F14}" dt="2026-01-08T03:52:38.976" v="104"/>
          <ac:spMkLst>
            <pc:docMk/>
            <pc:sldMk cId="0" sldId="257"/>
            <ac:spMk id="112" creationId="{00000000-0000-0000-0000-000000000000}"/>
          </ac:spMkLst>
        </pc:spChg>
        <pc:picChg chg="mod">
          <ac:chgData name="ömer utku aktemur" userId="b6b4966b1df3bb95" providerId="LiveId" clId="{0BB2F460-52DC-4159-B4DB-CCA1C0EE4F14}" dt="2026-01-08T03:50:50.745" v="102" actId="1076"/>
          <ac:picMkLst>
            <pc:docMk/>
            <pc:sldMk cId="0" sldId="257"/>
            <ac:picMk id="100" creationId="{00000000-0000-0000-0000-000000000000}"/>
          </ac:picMkLst>
        </pc:picChg>
      </pc:sldChg>
      <pc:sldChg chg="del">
        <pc:chgData name="ömer utku aktemur" userId="b6b4966b1df3bb95" providerId="LiveId" clId="{0BB2F460-52DC-4159-B4DB-CCA1C0EE4F14}" dt="2026-01-08T03:08:34.790" v="6" actId="47"/>
        <pc:sldMkLst>
          <pc:docMk/>
          <pc:sldMk cId="0" sldId="265"/>
        </pc:sldMkLst>
      </pc:sldChg>
      <pc:sldChg chg="modSp mod">
        <pc:chgData name="ömer utku aktemur" userId="b6b4966b1df3bb95" providerId="LiveId" clId="{0BB2F460-52DC-4159-B4DB-CCA1C0EE4F14}" dt="2026-01-08T03:30:47.740" v="18" actId="20577"/>
        <pc:sldMkLst>
          <pc:docMk/>
          <pc:sldMk cId="0" sldId="274"/>
        </pc:sldMkLst>
        <pc:spChg chg="mod">
          <ac:chgData name="ömer utku aktemur" userId="b6b4966b1df3bb95" providerId="LiveId" clId="{0BB2F460-52DC-4159-B4DB-CCA1C0EE4F14}" dt="2026-01-08T03:30:47.740" v="18" actId="20577"/>
          <ac:spMkLst>
            <pc:docMk/>
            <pc:sldMk cId="0" sldId="274"/>
            <ac:spMk id="337" creationId="{00000000-0000-0000-0000-000000000000}"/>
          </ac:spMkLst>
        </pc:spChg>
      </pc:sldChg>
      <pc:sldChg chg="modSp mod">
        <pc:chgData name="ömer utku aktemur" userId="b6b4966b1df3bb95" providerId="LiveId" clId="{0BB2F460-52DC-4159-B4DB-CCA1C0EE4F14}" dt="2026-01-08T03:40:35.583" v="25" actId="5793"/>
        <pc:sldMkLst>
          <pc:docMk/>
          <pc:sldMk cId="0" sldId="276"/>
        </pc:sldMkLst>
        <pc:spChg chg="mod">
          <ac:chgData name="ömer utku aktemur" userId="b6b4966b1df3bb95" providerId="LiveId" clId="{0BB2F460-52DC-4159-B4DB-CCA1C0EE4F14}" dt="2026-01-08T03:40:19.963" v="21" actId="20577"/>
          <ac:spMkLst>
            <pc:docMk/>
            <pc:sldMk cId="0" sldId="276"/>
            <ac:spMk id="105" creationId="{00000000-0000-0000-0000-000000000000}"/>
          </ac:spMkLst>
        </pc:spChg>
        <pc:spChg chg="mod">
          <ac:chgData name="ömer utku aktemur" userId="b6b4966b1df3bb95" providerId="LiveId" clId="{0BB2F460-52DC-4159-B4DB-CCA1C0EE4F14}" dt="2026-01-08T03:40:35.583" v="25" actId="5793"/>
          <ac:spMkLst>
            <pc:docMk/>
            <pc:sldMk cId="0" sldId="276"/>
            <ac:spMk id="112" creationId="{00000000-0000-0000-0000-000000000000}"/>
          </ac:spMkLst>
        </pc:spChg>
      </pc:sldChg>
      <pc:sldChg chg="del">
        <pc:chgData name="ömer utku aktemur" userId="b6b4966b1df3bb95" providerId="LiveId" clId="{0BB2F460-52DC-4159-B4DB-CCA1C0EE4F14}" dt="2026-01-08T02:44:32.143" v="3" actId="47"/>
        <pc:sldMkLst>
          <pc:docMk/>
          <pc:sldMk cId="0" sldId="281"/>
        </pc:sldMkLst>
      </pc:sldChg>
      <pc:sldChg chg="add del">
        <pc:chgData name="ömer utku aktemur" userId="b6b4966b1df3bb95" providerId="LiveId" clId="{0BB2F460-52DC-4159-B4DB-CCA1C0EE4F14}" dt="2026-01-08T02:44:19.797" v="1"/>
        <pc:sldMkLst>
          <pc:docMk/>
          <pc:sldMk cId="2006453695" sldId="282"/>
        </pc:sldMkLst>
      </pc:sldChg>
      <pc:sldChg chg="modSp add del mod ord">
        <pc:chgData name="ömer utku aktemur" userId="b6b4966b1df3bb95" providerId="LiveId" clId="{0BB2F460-52DC-4159-B4DB-CCA1C0EE4F14}" dt="2026-01-08T03:37:49.614" v="19" actId="47"/>
        <pc:sldMkLst>
          <pc:docMk/>
          <pc:sldMk cId="3340976413" sldId="282"/>
        </pc:sldMkLst>
        <pc:spChg chg="mod">
          <ac:chgData name="ömer utku aktemur" userId="b6b4966b1df3bb95" providerId="LiveId" clId="{0BB2F460-52DC-4159-B4DB-CCA1C0EE4F14}" dt="2026-01-08T03:09:57.339" v="13" actId="20577"/>
          <ac:spMkLst>
            <pc:docMk/>
            <pc:sldMk cId="3340976413" sldId="282"/>
            <ac:spMk id="105" creationId="{E3DD2EA2-3ED3-0562-2A50-5F590566D5FF}"/>
          </ac:spMkLst>
        </pc:spChg>
        <pc:picChg chg="mod">
          <ac:chgData name="ömer utku aktemur" userId="b6b4966b1df3bb95" providerId="LiveId" clId="{0BB2F460-52DC-4159-B4DB-CCA1C0EE4F14}" dt="2026-01-08T03:16:04.214" v="17" actId="1076"/>
          <ac:picMkLst>
            <pc:docMk/>
            <pc:sldMk cId="3340976413" sldId="282"/>
            <ac:picMk id="5" creationId="{423F9A34-F94D-A704-E49C-7CDB997252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86125"/>
            <a:ext cx="35559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3286125"/>
            <a:ext cx="35559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3286125"/>
            <a:ext cx="3556099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95199" y="1529661"/>
            <a:ext cx="1160145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 err="1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Araç</a:t>
            </a:r>
            <a:r>
              <a:rPr lang="en-US" sz="54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5400" b="0" i="0" u="none" strike="noStrike" cap="none" dirty="0" err="1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Fiyat</a:t>
            </a:r>
            <a:r>
              <a:rPr lang="en-US" sz="5400" b="0" i="0" u="none" strike="noStrike" cap="none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54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Tahmin</a:t>
            </a:r>
            <a:r>
              <a:rPr lang="en-US" sz="54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54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</a:t>
            </a:r>
            <a:r>
              <a:rPr lang="en-US" sz="5400" b="0" i="0" u="none" strike="noStrike" cap="none" dirty="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5400" b="0" i="0" u="none" strike="noStrike" cap="none" dirty="0" err="1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Analizi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71424" y="2539781"/>
            <a:ext cx="11049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Makine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Öğrenmesi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Modelleri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Hibrit</a:t>
            </a:r>
            <a:r>
              <a:rPr lang="en-US" sz="150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Yaklaşımlar</a:t>
            </a:r>
            <a:endParaRPr lang="tr-TR" sz="15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 algn="ctr">
              <a:lnSpc>
                <a:spcPct val="140000"/>
              </a:lnSpc>
            </a:pPr>
            <a:r>
              <a:rPr lang="tr-TR" sz="1500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GitHub</a:t>
            </a:r>
            <a:r>
              <a:rPr lang="tr-TR" sz="1500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Linki: https://github.com/RamazanBozkurrtt/1.6Multijet-DataMiningProject-Final</a:t>
            </a:r>
            <a:endParaRPr lang="tr-TR" sz="15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92627" y="3486150"/>
            <a:ext cx="331369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Ramazan Bozkurt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71525" y="3905250"/>
            <a:ext cx="3155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22040301027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439077" y="3486150"/>
            <a:ext cx="331369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Ömer Utku Aktemur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517975" y="3905250"/>
            <a:ext cx="3155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22040301043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185524" y="3486150"/>
            <a:ext cx="33138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Erkan Yasin Yamaan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264425" y="3905250"/>
            <a:ext cx="315604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22040301038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202" y="1619250"/>
            <a:ext cx="5334297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5727" y="1628775"/>
            <a:ext cx="5315247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57250" y="1771650"/>
            <a:ext cx="5047952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Dosya Türü: Veri seti standart </a:t>
            </a:r>
            <a:r>
              <a:rPr lang="en-US" sz="142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.CSV</a:t>
            </a: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formatındadır.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2139255"/>
            <a:ext cx="5047952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Kayıt Sayısı: Toplamda </a:t>
            </a:r>
            <a:r>
              <a:rPr lang="en-US" sz="142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~30.000 satır</a:t>
            </a: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araç ilanı.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57250" y="2506860"/>
            <a:ext cx="5047952" cy="30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Kapsam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1</a:t>
            </a:r>
            <a:r>
              <a:rPr lang="tr-TR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8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farklı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araç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parametresi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sütun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857250" y="2874466"/>
            <a:ext cx="5047952" cy="775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Özellikler: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38976" y="2809875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1676400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2044005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2411610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71500" y="2779216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57250" y="3223021"/>
            <a:ext cx="5047952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marka</a:t>
            </a:r>
            <a:r>
              <a:rPr lang="en-US" sz="12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, model, year, price, mileage, transmission, </a:t>
            </a:r>
            <a:r>
              <a:rPr lang="en-US" sz="12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fuelType</a:t>
            </a:r>
            <a:r>
              <a:rPr lang="en-US" sz="12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, tax, mpg, </a:t>
            </a:r>
            <a:r>
              <a:rPr lang="en-US" sz="1200" b="0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engineSize</a:t>
            </a:r>
            <a:r>
              <a:rPr lang="tr-TR" sz="12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…</a:t>
            </a:r>
            <a:endParaRPr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571500" y="381000"/>
            <a:ext cx="450056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Veri Seti </a:t>
            </a:r>
            <a:r>
              <a:rPr lang="en-US" sz="37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Genel Bakış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1846"/>
            <a:ext cx="5381625" cy="3224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911846"/>
            <a:ext cx="5381625" cy="322480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57250" y="2197596"/>
            <a:ext cx="505063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Sayısal (Numerical)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24625" y="2197596"/>
            <a:ext cx="505063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Kategorik (Categorical)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216646"/>
            <a:ext cx="20002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143000" y="2607171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price: Sürekli değişken (float)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43000" y="2974776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mileage: Tam sayı (int)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143000" y="3342382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tax: Vergi tutarı (float)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143000" y="3709987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mpg: Yakıt tüketimi (float)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143000" y="4077592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engineSize: Motor hacmi (float)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143000" y="4445198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year: Araç yılı (int)</a:t>
            </a:r>
            <a:endParaRPr lang="en-US"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24625" y="2216646"/>
            <a:ext cx="152400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810375" y="2607171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marka: Araç üreticisi (string)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810375" y="2974776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model: Araç modeli (string)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810375" y="3342382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transmission: Vites tipi (string)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810375" y="3709987"/>
            <a:ext cx="4524375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fuelType: Yakıt türü (string)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57250" y="2511921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57250" y="2879526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57250" y="3247132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57250" y="3614737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57250" y="3982342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57250" y="4349948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524625" y="2511921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6524625" y="2879526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6524625" y="3247132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524625" y="3614737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571500" y="381000"/>
            <a:ext cx="42005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Veri </a:t>
            </a:r>
            <a:r>
              <a:rPr lang="en-US" sz="37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Tipleri</a:t>
            </a:r>
            <a:r>
              <a:rPr lang="en-US" sz="37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Dağılımı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0" y="2494657"/>
            <a:ext cx="497205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571500" y="2589907"/>
            <a:ext cx="5524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Ham veride saptanan yapısal bozukluklar temizlenmiştir: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57250" y="3047107"/>
            <a:ext cx="523875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Tespit: Para birimi sembolü (</a:t>
            </a:r>
            <a:r>
              <a:rPr lang="en-US" sz="1425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£</a:t>
            </a: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kullanılarak yanlış sütundaki veriler saptandı.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57250" y="3668017"/>
            <a:ext cx="523875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Onarım: Fiyatın km sütununa kaydığı satırlarda algoritmik öteleme yapılarak veri seti normalize edildi.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57250" y="4288928"/>
            <a:ext cx="523875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Filtreleme: Model performansını bozan anlamsız ID ve metin sütunları veri setinden temizlendi.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2951857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1500" y="3572767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571500" y="4193678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71500" y="638175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Kritik Önişleme: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Sütun Kayması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9602" y="1544835"/>
            <a:ext cx="4800897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9127" y="1554360"/>
            <a:ext cx="4781847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56208" y="2261123"/>
            <a:ext cx="5581352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Clustering: </a:t>
            </a:r>
            <a:r>
              <a:rPr lang="en-US" sz="1425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K-Means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algoritması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ile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araç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segmentasyonu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yeni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özellik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üretimi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856208" y="2988643"/>
            <a:ext cx="5581352" cy="30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Ölçekleme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Uzaklık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tabanlı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modeler</a:t>
            </a:r>
            <a:r>
              <a:rPr lang="tr-TR" sz="1425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için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1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StandardScaler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856208" y="3309046"/>
            <a:ext cx="5581352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Boyut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İndirgeme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Düşük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varyanslı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özelliklerin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425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ayıklanması</a:t>
            </a:r>
            <a:r>
              <a:rPr lang="en-US" sz="1425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2208014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71500" y="2828925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3196530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571500" y="381000"/>
            <a:ext cx="6150768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Veri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Hazırlama</a:t>
            </a: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ve Pipeline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44835"/>
            <a:ext cx="4800897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554360"/>
            <a:ext cx="4781847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53397" y="2407890"/>
            <a:ext cx="616045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Neden Topluluk Yöntemleri?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53397" y="2817465"/>
            <a:ext cx="586710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Tek bir modelin hatasını azaltmak ve daha genelleyici sonuçlar elde etmek için birden fazla algoritmanın birleşimidir.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039147" y="3541365"/>
            <a:ext cx="5581352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Bagging: Paralel öğreniciler (Random Forest).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039147" y="3908970"/>
            <a:ext cx="5581352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Boosting: Hataları düzelten ardışık öğreniciler (AdaBoost, GBR).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039147" y="4276576"/>
            <a:ext cx="5581352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Stacking/Voting: Farklı türdeki modellerin oylaması.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53397" y="3446115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753397" y="3813720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753397" y="4181326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381000"/>
            <a:ext cx="9711213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Topluluk Öğrenmesi (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Ensemble Learning</a:t>
            </a: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2" name="Google Shape;272;p28"/>
          <p:cNvGraphicFramePr/>
          <p:nvPr>
            <p:extLst>
              <p:ext uri="{D42A27DB-BD31-4B8C-83A1-F6EECF244321}">
                <p14:modId xmlns:p14="http://schemas.microsoft.com/office/powerpoint/2010/main" val="3540431182"/>
              </p:ext>
            </p:extLst>
          </p:nvPr>
        </p:nvGraphicFramePr>
        <p:xfrm>
          <a:off x="571500" y="2230635"/>
          <a:ext cx="11048975" cy="2724225"/>
        </p:xfrm>
        <a:graphic>
          <a:graphicData uri="http://schemas.openxmlformats.org/drawingml/2006/table">
            <a:tbl>
              <a:tblPr firstRow="1" bandRow="1">
                <a:noFill/>
                <a:tableStyleId>{EC631387-8047-444B-9E71-519843350850}</a:tableStyleId>
              </a:tblPr>
              <a:tblGrid>
                <a:gridCol w="9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Sıra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 İsmi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Maksimum R2 Skoru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MAE (TL)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 İyi Senaryo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E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StackingRegressor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0.9385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1293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Final Hibrit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Random Forest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0.9362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1430 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Ham Veri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HistGradientBoosting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0.9210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Kümeleme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GradientBoosting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0.9185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1273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Ham Veri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AdaBoost Regressor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0.9141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1828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Ham Veri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Voting Regressor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0.8894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-TR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1821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5F5F5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Ham Veri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3" name="Google Shape;273;p28"/>
          <p:cNvSpPr/>
          <p:nvPr/>
        </p:nvSpPr>
        <p:spPr>
          <a:xfrm>
            <a:off x="571500" y="3035498"/>
            <a:ext cx="93181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1503312" y="3035498"/>
            <a:ext cx="29451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4448472" y="3035498"/>
            <a:ext cx="31782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7626697" y="3035498"/>
            <a:ext cx="16805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9307264" y="3035498"/>
            <a:ext cx="231323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571500" y="3416498"/>
            <a:ext cx="93181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1503312" y="3416498"/>
            <a:ext cx="29451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4448472" y="3416498"/>
            <a:ext cx="31782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7626697" y="3416498"/>
            <a:ext cx="16805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9307264" y="3416498"/>
            <a:ext cx="231323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571500" y="3797498"/>
            <a:ext cx="93181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1503312" y="3797498"/>
            <a:ext cx="29451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4448472" y="3797498"/>
            <a:ext cx="31782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8"/>
          <p:cNvSpPr/>
          <p:nvPr/>
        </p:nvSpPr>
        <p:spPr>
          <a:xfrm>
            <a:off x="7626697" y="3797498"/>
            <a:ext cx="16805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9307264" y="3797498"/>
            <a:ext cx="231323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571500" y="4178498"/>
            <a:ext cx="93181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1503312" y="4178498"/>
            <a:ext cx="29451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4448472" y="4178498"/>
            <a:ext cx="31782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7626697" y="4178498"/>
            <a:ext cx="16805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9307264" y="4178498"/>
            <a:ext cx="231323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571500" y="4559498"/>
            <a:ext cx="93181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1503312" y="4559498"/>
            <a:ext cx="29451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4448472" y="4559498"/>
            <a:ext cx="31782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7626697" y="4559498"/>
            <a:ext cx="16805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9307264" y="4559498"/>
            <a:ext cx="231323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571500" y="4940498"/>
            <a:ext cx="931812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1503312" y="4940498"/>
            <a:ext cx="2945159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4448472" y="4940498"/>
            <a:ext cx="317822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7626697" y="4940498"/>
            <a:ext cx="1680567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9307264" y="4940498"/>
            <a:ext cx="231323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 txBox="1"/>
          <p:nvPr/>
        </p:nvSpPr>
        <p:spPr>
          <a:xfrm>
            <a:off x="571500" y="381000"/>
            <a:ext cx="8361045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Modellerin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Kapsamlı Karşılaştırması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95450"/>
            <a:ext cx="11049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876300" y="2000250"/>
            <a:ext cx="54806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Neden En İyisi?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8004377" y="2277962"/>
            <a:ext cx="1857375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0.938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8004377" y="4106762"/>
            <a:ext cx="18573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R2 SKORU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1162050" y="2371725"/>
            <a:ext cx="4933950" cy="759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Hibrit Mimari: RF, GBR ve AdaBoost modellerini "Base Learner" olarak kullanarak her birinin güçlü yanını birleştirmiştir.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1162050" y="3245941"/>
            <a:ext cx="493395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Meta-Learner: Ridge Regresyonu sayesinde alt modellerin hatalarını filtreleyerek %93.85 başarısına ulaşmıştır.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1162050" y="3866852"/>
            <a:ext cx="493395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Hata Payı: Ortalama mutlak hata (MAE) değerinde en düşük seviyeyi görmüştür.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876300" y="2276475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876300" y="3150691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876300" y="3771602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381000"/>
            <a:ext cx="8071008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Şampiyon Model: </a:t>
            </a:r>
            <a:r>
              <a:rPr lang="en-US" sz="37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StackingRegressor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571500" y="5925166"/>
            <a:ext cx="11049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Sayısal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analizlerimize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göre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tr-TR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Şanzıman Türü </a:t>
            </a:r>
            <a:r>
              <a:rPr lang="en-US" sz="1500" i="1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belirleyen</a:t>
            </a:r>
            <a:r>
              <a:rPr lang="en-US" sz="1500" i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kritik</a:t>
            </a:r>
            <a:r>
              <a:rPr lang="tr-TR" sz="1500" i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parametredir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37" name="Google Shape;237;p24"/>
          <p:cNvSpPr txBox="1"/>
          <p:nvPr/>
        </p:nvSpPr>
        <p:spPr>
          <a:xfrm>
            <a:off x="571500" y="3810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Fiyata Etki Eden </a:t>
            </a: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Temel Faktörler</a:t>
            </a:r>
            <a:endParaRPr/>
          </a:p>
        </p:txBody>
      </p:sp>
      <p:pic>
        <p:nvPicPr>
          <p:cNvPr id="3" name="Resim 2" descr="metin, ekran görüntüsü, sayı, numara, öykü gelişim çizgisi; kumpas; grafiğini çıkarm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59B1A63-63DE-F3EA-3EDB-6310F5233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707" y="1079826"/>
            <a:ext cx="7690586" cy="46983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/>
        </p:nvSpPr>
        <p:spPr>
          <a:xfrm>
            <a:off x="857250" y="2626072"/>
            <a:ext cx="1076325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Pedregosa, F., et al. (2011). "Scikit-learn: Machine Learning in Python". JMLR.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857250" y="2993677"/>
            <a:ext cx="1076325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Breiman, L. (2001). "Random Forests". Machine Learning Journal.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857250" y="3361283"/>
            <a:ext cx="1076325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Chen, T., &amp; Guestrin, C. (2016). "XGBoost: A Scalable Tree Boosting System". KDD.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857250" y="3728888"/>
            <a:ext cx="1076325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McKinney, W. (2010). "Data Structures for Statistical Computing in Python". SciPy.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857250" y="4096494"/>
            <a:ext cx="10763250" cy="253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VanderPlas, J. (2016). "Python Data Science Handbook". O'Reilly Media.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571500" y="2530822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571500" y="2898427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3" name="Google Shape;323;p30"/>
          <p:cNvSpPr txBox="1"/>
          <p:nvPr/>
        </p:nvSpPr>
        <p:spPr>
          <a:xfrm>
            <a:off x="571500" y="3266033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571500" y="3633638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571500" y="4001244"/>
            <a:ext cx="6667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5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571500" y="381000"/>
            <a:ext cx="2320290" cy="565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Kaynakça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71762"/>
            <a:ext cx="35559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671762"/>
            <a:ext cx="35559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671762"/>
            <a:ext cx="3556099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1"/>
          <p:cNvSpPr txBox="1"/>
          <p:nvPr/>
        </p:nvSpPr>
        <p:spPr>
          <a:xfrm>
            <a:off x="295275" y="1500187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Dinlediğiniz İçin </a:t>
            </a:r>
            <a:r>
              <a:rPr lang="en-US" sz="18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Teşekkürler</a:t>
            </a:r>
            <a:endParaRPr/>
          </a:p>
        </p:txBody>
      </p:sp>
      <p:sp>
        <p:nvSpPr>
          <p:cNvPr id="336" name="Google Shape;336;p31"/>
          <p:cNvSpPr/>
          <p:nvPr/>
        </p:nvSpPr>
        <p:spPr>
          <a:xfrm>
            <a:off x="5524500" y="206216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571500" y="4329112"/>
            <a:ext cx="11049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Veri </a:t>
            </a:r>
            <a:r>
              <a:rPr lang="en-US" sz="1500" b="0" i="1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Madenciliği</a:t>
            </a:r>
            <a:r>
              <a:rPr lang="en-US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- 202</a:t>
            </a:r>
            <a:r>
              <a:rPr lang="tr-TR" sz="1500" b="0" i="1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6</a:t>
            </a:r>
            <a:endParaRPr dirty="0"/>
          </a:p>
        </p:txBody>
      </p:sp>
      <p:sp>
        <p:nvSpPr>
          <p:cNvPr id="338" name="Google Shape;338;p31"/>
          <p:cNvSpPr txBox="1"/>
          <p:nvPr/>
        </p:nvSpPr>
        <p:spPr>
          <a:xfrm>
            <a:off x="692627" y="2871787"/>
            <a:ext cx="331369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</a:t>
            </a:r>
            <a:r>
              <a:rPr lang="tr-TR" sz="1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amzan</a:t>
            </a:r>
            <a:r>
              <a:rPr lang="en-US" sz="1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Bozkurt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771525" y="3290887"/>
            <a:ext cx="3155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22040301027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4439077" y="2871787"/>
            <a:ext cx="331369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Ömer Utku</a:t>
            </a:r>
            <a:r>
              <a:rPr lang="tr-TR" sz="15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1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Aktemur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4517975" y="3290887"/>
            <a:ext cx="3155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22040301043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8185524" y="2871787"/>
            <a:ext cx="331385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</a:t>
            </a:r>
            <a:r>
              <a:rPr lang="tr-TR" sz="15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rkan Yasin </a:t>
            </a:r>
            <a:r>
              <a:rPr lang="en-US" sz="15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Yamaan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8264425" y="3290887"/>
            <a:ext cx="3156049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22040301038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</Words>
  <Application>Microsoft Office PowerPoint</Application>
  <PresentationFormat>Geniş ekran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6" baseType="lpstr">
      <vt:lpstr>Calibri</vt:lpstr>
      <vt:lpstr>Arial</vt:lpstr>
      <vt:lpstr>Urbanist</vt:lpstr>
      <vt:lpstr>Urbanist Medium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ömer utku aktemur</cp:lastModifiedBy>
  <cp:revision>4</cp:revision>
  <dcterms:modified xsi:type="dcterms:W3CDTF">2026-01-08T04:30:50Z</dcterms:modified>
</cp:coreProperties>
</file>